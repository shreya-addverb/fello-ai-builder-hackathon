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point: reps today get handed either a half-filled lead form or a completely anonymous website visitor, with none of the context they need to actually sell — no company profile, no sense of intent, no idea who the decision maker is. Then pivot to the solution: Fello takes that minimal signal — just a company name and domain, or visitor activity — and does the research legwork automatically, pulling public web evidence, enriching the profile, and handing the rep a ready-to-use AI account brief with a recommended next action. Frame it honestly: this is a working prototype, the value is the end-to-end flow from thin signal to structured, evidence-based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the user gives either a company name and domain, or raw website visitor activity signals. FastAPI orchestrates the request, Tavily runs live web search for public evidence, Firecrawl scrapes the company's own site, and Gemini takes all of that raw evidence and extracts it into structured fields and reasons over it. The output is the structured account intelligence you see below: company profile, detected technology stack, leadership and decision makers, business signals like hiring or funding, an inferred visitor persona with an intent score, and finally an AI-written summary with a recommended next sales action. Be honest about scope: this is a working end-to-end prototype — the emphasis is the full flow and evidence-based enrichment, not a finished production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7FB"/>
        </a:solidFill>
      </p:bgPr>
    </p:bg>
    <p:spTree>
      <p:nvGrpSpPr>
        <p:cNvPr id="1" name=""/>
        <p:cNvGrpSpPr/>
        <p:nvPr/>
      </p:nvGrpSpPr>
      <p:grpSpPr>
        <a:xfrm>
          <a:off x="0" y="0"/>
          <a:ext cx="0" cy="0"/>
          <a:chOff x="0" y="0"/>
          <a:chExt cx="0" cy="0"/>
        </a:xfrm>
      </p:grpSpPr>
      <p:sp>
        <p:nvSpPr>
          <p:cNvPr id="2" name="Shape 0"/>
          <p:cNvSpPr/>
          <p:nvPr/>
        </p:nvSpPr>
        <p:spPr>
          <a:xfrm>
            <a:off x="457200" y="411480"/>
            <a:ext cx="2148840" cy="310896"/>
          </a:xfrm>
          <a:prstGeom prst="roundRect">
            <a:avLst>
              <a:gd name="adj" fmla="val 50000"/>
            </a:avLst>
          </a:prstGeom>
          <a:solidFill>
            <a:srgbClr val="1B1E4B"/>
          </a:solidFill>
          <a:ln/>
        </p:spPr>
      </p:sp>
      <p:sp>
        <p:nvSpPr>
          <p:cNvPr id="3" name="Text 1"/>
          <p:cNvSpPr/>
          <p:nvPr/>
        </p:nvSpPr>
        <p:spPr>
          <a:xfrm>
            <a:off x="457200" y="411480"/>
            <a:ext cx="2148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HACKATHON PROTOTYPE</a:t>
            </a:r>
            <a:endParaRPr lang="en-US" sz="1050" dirty="0"/>
          </a:p>
        </p:txBody>
      </p:sp>
      <p:sp>
        <p:nvSpPr>
          <p:cNvPr id="4" name="Text 2"/>
          <p:cNvSpPr/>
          <p:nvPr/>
        </p:nvSpPr>
        <p:spPr>
          <a:xfrm>
            <a:off x="457200" y="804672"/>
            <a:ext cx="11274552" cy="658368"/>
          </a:xfrm>
          <a:prstGeom prst="rect">
            <a:avLst/>
          </a:prstGeom>
          <a:noFill/>
          <a:ln/>
        </p:spPr>
        <p:txBody>
          <a:bodyPr wrap="square" lIns="0" tIns="0" rIns="0" bIns="0" rtlCol="0" anchor="ctr"/>
          <a:lstStyle/>
          <a:p>
            <a:pPr indent="0" marL="0">
              <a:buNone/>
            </a:pPr>
            <a:r>
              <a:rPr lang="en-US" sz="3000" b="1" dirty="0">
                <a:solidFill>
                  <a:srgbClr val="1B1E4B"/>
                </a:solidFill>
                <a:latin typeface="Century Schoolbook" pitchFamily="34" charset="0"/>
                <a:ea typeface="Century Schoolbook" pitchFamily="34" charset="-122"/>
                <a:cs typeface="Century Schoolbook" pitchFamily="34" charset="-120"/>
              </a:rPr>
              <a:t>Fello AI Account Intelligence &amp; Enrichment System</a:t>
            </a:r>
            <a:endParaRPr lang="en-US" sz="3000" dirty="0"/>
          </a:p>
        </p:txBody>
      </p:sp>
      <p:sp>
        <p:nvSpPr>
          <p:cNvPr id="5" name="Text 3"/>
          <p:cNvSpPr/>
          <p:nvPr/>
        </p:nvSpPr>
        <p:spPr>
          <a:xfrm>
            <a:off x="457200" y="1444752"/>
            <a:ext cx="11274552" cy="457200"/>
          </a:xfrm>
          <a:prstGeom prst="rect">
            <a:avLst/>
          </a:prstGeom>
          <a:noFill/>
          <a:ln/>
        </p:spPr>
        <p:txBody>
          <a:bodyPr wrap="square" lIns="0" tIns="0" rIns="0" bIns="0" rtlCol="0" anchor="ctr"/>
          <a:lstStyle/>
          <a:p>
            <a:pPr indent="0" marL="0">
              <a:buNone/>
            </a:pPr>
            <a:r>
              <a:rPr lang="en-US" sz="1450" i="1" dirty="0">
                <a:solidFill>
                  <a:srgbClr val="5B5F82"/>
                </a:solidFill>
                <a:latin typeface="Calibri" pitchFamily="34" charset="0"/>
                <a:ea typeface="Calibri" pitchFamily="34" charset="-122"/>
                <a:cs typeface="Calibri" pitchFamily="34" charset="-120"/>
              </a:rPr>
              <a:t>Turning a bare company name or an anonymous website visit into a structured account brief and a recommended sales action.</a:t>
            </a:r>
            <a:endParaRPr lang="en-US" sz="1450" dirty="0"/>
          </a:p>
        </p:txBody>
      </p:sp>
      <p:sp>
        <p:nvSpPr>
          <p:cNvPr id="6" name="Shape 4"/>
          <p:cNvSpPr/>
          <p:nvPr/>
        </p:nvSpPr>
        <p:spPr>
          <a:xfrm>
            <a:off x="457200" y="2084832"/>
            <a:ext cx="5440680" cy="4315968"/>
          </a:xfrm>
          <a:prstGeom prst="roundRect">
            <a:avLst>
              <a:gd name="adj" fmla="val 2542"/>
            </a:avLst>
          </a:prstGeom>
          <a:solidFill>
            <a:srgbClr val="FFFFFF"/>
          </a:solidFill>
          <a:ln w="12700">
            <a:solidFill>
              <a:srgbClr val="E3E2F0"/>
            </a:solidFill>
            <a:prstDash val="solid"/>
          </a:ln>
          <a:effectLst>
            <a:outerShdw sx="100000" sy="100000" kx="0" ky="0" algn="bl" rotWithShape="0" blurRad="101600" dist="38100" dir="5400000">
              <a:srgbClr val="1B1E4B">
                <a:alpha val="12000"/>
              </a:srgbClr>
            </a:outerShdw>
          </a:effectLst>
        </p:spPr>
      </p:sp>
      <p:sp>
        <p:nvSpPr>
          <p:cNvPr id="7" name="Shape 5"/>
          <p:cNvSpPr/>
          <p:nvPr/>
        </p:nvSpPr>
        <p:spPr>
          <a:xfrm>
            <a:off x="6263640" y="2084832"/>
            <a:ext cx="5440680" cy="4315968"/>
          </a:xfrm>
          <a:prstGeom prst="roundRect">
            <a:avLst>
              <a:gd name="adj" fmla="val 2542"/>
            </a:avLst>
          </a:prstGeom>
          <a:solidFill>
            <a:srgbClr val="EDEAFB"/>
          </a:solidFill>
          <a:ln/>
          <a:effectLst>
            <a:outerShdw sx="100000" sy="100000" kx="0" ky="0" algn="bl" rotWithShape="0" blurRad="101600" dist="38100" dir="5400000">
              <a:srgbClr val="1B1E4B">
                <a:alpha val="12000"/>
              </a:srgbClr>
            </a:outerShdw>
          </a:effectLst>
        </p:spPr>
      </p:sp>
      <p:sp>
        <p:nvSpPr>
          <p:cNvPr id="8" name="Shape 6"/>
          <p:cNvSpPr/>
          <p:nvPr/>
        </p:nvSpPr>
        <p:spPr>
          <a:xfrm>
            <a:off x="777240" y="2377440"/>
            <a:ext cx="54864" cy="310896"/>
          </a:xfrm>
          <a:prstGeom prst="rect">
            <a:avLst/>
          </a:prstGeom>
          <a:solidFill>
            <a:srgbClr val="5B5F82"/>
          </a:solidFill>
          <a:ln/>
        </p:spPr>
      </p:sp>
      <p:sp>
        <p:nvSpPr>
          <p:cNvPr id="9" name="Text 7"/>
          <p:cNvSpPr/>
          <p:nvPr/>
        </p:nvSpPr>
        <p:spPr>
          <a:xfrm>
            <a:off x="960120" y="2322576"/>
            <a:ext cx="4617720" cy="420624"/>
          </a:xfrm>
          <a:prstGeom prst="rect">
            <a:avLst/>
          </a:prstGeom>
          <a:noFill/>
          <a:ln/>
        </p:spPr>
        <p:txBody>
          <a:bodyPr wrap="square" lIns="0" tIns="0" rIns="0" bIns="0" rtlCol="0" anchor="ctr"/>
          <a:lstStyle/>
          <a:p>
            <a:pPr indent="0" marL="0">
              <a:buNone/>
            </a:pPr>
            <a:r>
              <a:rPr lang="en-US" sz="1900" b="1" dirty="0">
                <a:solidFill>
                  <a:srgbClr val="1B1E4B"/>
                </a:solidFill>
                <a:latin typeface="Century Schoolbook" pitchFamily="34" charset="0"/>
                <a:ea typeface="Century Schoolbook" pitchFamily="34" charset="-122"/>
                <a:cs typeface="Century Schoolbook" pitchFamily="34" charset="-120"/>
              </a:rPr>
              <a:t>The Problem</a:t>
            </a:r>
            <a:endParaRPr lang="en-US" sz="1900" dirty="0"/>
          </a:p>
        </p:txBody>
      </p:sp>
      <p:sp>
        <p:nvSpPr>
          <p:cNvPr id="10" name="Shape 8"/>
          <p:cNvSpPr/>
          <p:nvPr/>
        </p:nvSpPr>
        <p:spPr>
          <a:xfrm>
            <a:off x="6583680" y="2377440"/>
            <a:ext cx="54864" cy="310896"/>
          </a:xfrm>
          <a:prstGeom prst="rect">
            <a:avLst/>
          </a:prstGeom>
          <a:solidFill>
            <a:srgbClr val="6C4CE0"/>
          </a:solidFill>
          <a:ln/>
        </p:spPr>
      </p:sp>
      <p:sp>
        <p:nvSpPr>
          <p:cNvPr id="11" name="Text 9"/>
          <p:cNvSpPr/>
          <p:nvPr/>
        </p:nvSpPr>
        <p:spPr>
          <a:xfrm>
            <a:off x="6766560" y="2322576"/>
            <a:ext cx="4617720" cy="420624"/>
          </a:xfrm>
          <a:prstGeom prst="rect">
            <a:avLst/>
          </a:prstGeom>
          <a:noFill/>
          <a:ln/>
        </p:spPr>
        <p:txBody>
          <a:bodyPr wrap="square" lIns="0" tIns="0" rIns="0" bIns="0" rtlCol="0" anchor="ctr"/>
          <a:lstStyle/>
          <a:p>
            <a:pPr indent="0" marL="0">
              <a:buNone/>
            </a:pPr>
            <a:r>
              <a:rPr lang="en-US" sz="1900" b="1" dirty="0">
                <a:solidFill>
                  <a:srgbClr val="1B1E4B"/>
                </a:solidFill>
                <a:latin typeface="Century Schoolbook" pitchFamily="34" charset="0"/>
                <a:ea typeface="Century Schoolbook" pitchFamily="34" charset="-122"/>
                <a:cs typeface="Century Schoolbook" pitchFamily="34" charset="-120"/>
              </a:rPr>
              <a:t>The Fello Solution</a:t>
            </a:r>
            <a:endParaRPr lang="en-US" sz="1900" dirty="0"/>
          </a:p>
        </p:txBody>
      </p:sp>
      <p:sp>
        <p:nvSpPr>
          <p:cNvPr id="12" name="Shape 10"/>
          <p:cNvSpPr/>
          <p:nvPr/>
        </p:nvSpPr>
        <p:spPr>
          <a:xfrm>
            <a:off x="777240" y="2953512"/>
            <a:ext cx="457200" cy="457200"/>
          </a:xfrm>
          <a:prstGeom prst="ellipse">
            <a:avLst/>
          </a:prstGeom>
          <a:solidFill>
            <a:srgbClr val="5B5F82"/>
          </a:solidFill>
          <a:ln/>
        </p:spPr>
      </p:sp>
      <p:pic>
        <p:nvPicPr>
          <p:cNvPr id="13" name="Image 0" descr="/home/claude/fello/icon_userx_FFFFFF.png">    </p:cNvPr>
          <p:cNvPicPr>
            <a:picLocks noChangeAspect="1"/>
          </p:cNvPicPr>
          <p:nvPr/>
        </p:nvPicPr>
        <p:blipFill>
          <a:blip r:embed="rId1"/>
          <a:stretch>
            <a:fillRect/>
          </a:stretch>
        </p:blipFill>
        <p:spPr>
          <a:xfrm>
            <a:off x="877824" y="3054096"/>
            <a:ext cx="256032" cy="256032"/>
          </a:xfrm>
          <a:prstGeom prst="rect">
            <a:avLst/>
          </a:prstGeom>
        </p:spPr>
      </p:pic>
      <p:sp>
        <p:nvSpPr>
          <p:cNvPr id="14" name="Text 11"/>
          <p:cNvSpPr/>
          <p:nvPr/>
        </p:nvSpPr>
        <p:spPr>
          <a:xfrm>
            <a:off x="1399032" y="2898648"/>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Sales teams get anonymous website visitors or bare company names to work with</a:t>
            </a:r>
            <a:endParaRPr lang="en-US" sz="1300" dirty="0"/>
          </a:p>
        </p:txBody>
      </p:sp>
      <p:sp>
        <p:nvSpPr>
          <p:cNvPr id="15" name="Shape 12"/>
          <p:cNvSpPr/>
          <p:nvPr/>
        </p:nvSpPr>
        <p:spPr>
          <a:xfrm>
            <a:off x="777240" y="3849624"/>
            <a:ext cx="457200" cy="457200"/>
          </a:xfrm>
          <a:prstGeom prst="ellipse">
            <a:avLst/>
          </a:prstGeom>
          <a:solidFill>
            <a:srgbClr val="5B5F82"/>
          </a:solidFill>
          <a:ln/>
        </p:spPr>
      </p:sp>
      <p:pic>
        <p:nvPicPr>
          <p:cNvPr id="16" name="Image 1" descr="/home/claude/fello/icon_alert_FFFFFF.png">    </p:cNvPr>
          <p:cNvPicPr>
            <a:picLocks noChangeAspect="1"/>
          </p:cNvPicPr>
          <p:nvPr/>
        </p:nvPicPr>
        <p:blipFill>
          <a:blip r:embed="rId2"/>
          <a:stretch>
            <a:fillRect/>
          </a:stretch>
        </p:blipFill>
        <p:spPr>
          <a:xfrm>
            <a:off x="877824" y="3950208"/>
            <a:ext cx="256032" cy="256032"/>
          </a:xfrm>
          <a:prstGeom prst="rect">
            <a:avLst/>
          </a:prstGeom>
        </p:spPr>
      </p:pic>
      <p:sp>
        <p:nvSpPr>
          <p:cNvPr id="17" name="Text 13"/>
          <p:cNvSpPr/>
          <p:nvPr/>
        </p:nvSpPr>
        <p:spPr>
          <a:xfrm>
            <a:off x="1399032" y="3794760"/>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No visibility into company profile, size, or technology stack</a:t>
            </a:r>
            <a:endParaRPr lang="en-US" sz="1300" dirty="0"/>
          </a:p>
        </p:txBody>
      </p:sp>
      <p:sp>
        <p:nvSpPr>
          <p:cNvPr id="18" name="Shape 14"/>
          <p:cNvSpPr/>
          <p:nvPr/>
        </p:nvSpPr>
        <p:spPr>
          <a:xfrm>
            <a:off x="777240" y="4745736"/>
            <a:ext cx="457200" cy="457200"/>
          </a:xfrm>
          <a:prstGeom prst="ellipse">
            <a:avLst/>
          </a:prstGeom>
          <a:solidFill>
            <a:srgbClr val="5B5F82"/>
          </a:solidFill>
          <a:ln/>
        </p:spPr>
      </p:sp>
      <p:pic>
        <p:nvPicPr>
          <p:cNvPr id="19" name="Image 2" descr="/home/claude/fello/icon_search_FFFFFF.png">    </p:cNvPr>
          <p:cNvPicPr>
            <a:picLocks noChangeAspect="1"/>
          </p:cNvPicPr>
          <p:nvPr/>
        </p:nvPicPr>
        <p:blipFill>
          <a:blip r:embed="rId3"/>
          <a:stretch>
            <a:fillRect/>
          </a:stretch>
        </p:blipFill>
        <p:spPr>
          <a:xfrm>
            <a:off x="877824" y="4846320"/>
            <a:ext cx="256032" cy="256032"/>
          </a:xfrm>
          <a:prstGeom prst="rect">
            <a:avLst/>
          </a:prstGeom>
        </p:spPr>
      </p:pic>
      <p:sp>
        <p:nvSpPr>
          <p:cNvPr id="20" name="Text 15"/>
          <p:cNvSpPr/>
          <p:nvPr/>
        </p:nvSpPr>
        <p:spPr>
          <a:xfrm>
            <a:off x="1399032" y="4690872"/>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Buying intent and the real decision makers stay a guess</a:t>
            </a:r>
            <a:endParaRPr lang="en-US" sz="1300" dirty="0"/>
          </a:p>
        </p:txBody>
      </p:sp>
      <p:sp>
        <p:nvSpPr>
          <p:cNvPr id="21" name="Shape 16"/>
          <p:cNvSpPr/>
          <p:nvPr/>
        </p:nvSpPr>
        <p:spPr>
          <a:xfrm>
            <a:off x="777240" y="5641848"/>
            <a:ext cx="457200" cy="457200"/>
          </a:xfrm>
          <a:prstGeom prst="ellipse">
            <a:avLst/>
          </a:prstGeom>
          <a:solidFill>
            <a:srgbClr val="5B5F82"/>
          </a:solidFill>
          <a:ln/>
        </p:spPr>
      </p:sp>
      <p:pic>
        <p:nvPicPr>
          <p:cNvPr id="22" name="Image 3" descr="/home/claude/fello/icon_filetext_FFFFFF.png">    </p:cNvPr>
          <p:cNvPicPr>
            <a:picLocks noChangeAspect="1"/>
          </p:cNvPicPr>
          <p:nvPr/>
        </p:nvPicPr>
        <p:blipFill>
          <a:blip r:embed="rId4"/>
          <a:stretch>
            <a:fillRect/>
          </a:stretch>
        </p:blipFill>
        <p:spPr>
          <a:xfrm>
            <a:off x="877824" y="5742432"/>
            <a:ext cx="256032" cy="256032"/>
          </a:xfrm>
          <a:prstGeom prst="rect">
            <a:avLst/>
          </a:prstGeom>
        </p:spPr>
      </p:pic>
      <p:sp>
        <p:nvSpPr>
          <p:cNvPr id="23" name="Text 17"/>
          <p:cNvSpPr/>
          <p:nvPr/>
        </p:nvSpPr>
        <p:spPr>
          <a:xfrm>
            <a:off x="1399032" y="5586984"/>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No clear next action — reps spend time researching instead of selling</a:t>
            </a:r>
            <a:endParaRPr lang="en-US" sz="1300" dirty="0"/>
          </a:p>
        </p:txBody>
      </p:sp>
      <p:sp>
        <p:nvSpPr>
          <p:cNvPr id="24" name="Shape 18"/>
          <p:cNvSpPr/>
          <p:nvPr/>
        </p:nvSpPr>
        <p:spPr>
          <a:xfrm>
            <a:off x="6583680" y="2953512"/>
            <a:ext cx="457200" cy="457200"/>
          </a:xfrm>
          <a:prstGeom prst="ellipse">
            <a:avLst/>
          </a:prstGeom>
          <a:solidFill>
            <a:srgbClr val="6C4CE0"/>
          </a:solidFill>
          <a:ln/>
        </p:spPr>
      </p:sp>
      <p:pic>
        <p:nvPicPr>
          <p:cNvPr id="25" name="Image 4" descr="/home/claude/fello/icon_upload_FFFFFF.png">    </p:cNvPr>
          <p:cNvPicPr>
            <a:picLocks noChangeAspect="1"/>
          </p:cNvPicPr>
          <p:nvPr/>
        </p:nvPicPr>
        <p:blipFill>
          <a:blip r:embed="rId5"/>
          <a:stretch>
            <a:fillRect/>
          </a:stretch>
        </p:blipFill>
        <p:spPr>
          <a:xfrm>
            <a:off x="6684264" y="3054096"/>
            <a:ext cx="256032" cy="256032"/>
          </a:xfrm>
          <a:prstGeom prst="rect">
            <a:avLst/>
          </a:prstGeom>
        </p:spPr>
      </p:pic>
      <p:sp>
        <p:nvSpPr>
          <p:cNvPr id="26" name="Text 19"/>
          <p:cNvSpPr/>
          <p:nvPr/>
        </p:nvSpPr>
        <p:spPr>
          <a:xfrm>
            <a:off x="7205472" y="2898648"/>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Accepts minimal input — a company + domain, or raw visitor activity signals</a:t>
            </a:r>
            <a:endParaRPr lang="en-US" sz="1300" dirty="0"/>
          </a:p>
        </p:txBody>
      </p:sp>
      <p:sp>
        <p:nvSpPr>
          <p:cNvPr id="27" name="Shape 20"/>
          <p:cNvSpPr/>
          <p:nvPr/>
        </p:nvSpPr>
        <p:spPr>
          <a:xfrm>
            <a:off x="6583680" y="3849624"/>
            <a:ext cx="457200" cy="457200"/>
          </a:xfrm>
          <a:prstGeom prst="ellipse">
            <a:avLst/>
          </a:prstGeom>
          <a:solidFill>
            <a:srgbClr val="6C4CE0"/>
          </a:solidFill>
          <a:ln/>
        </p:spPr>
      </p:sp>
      <p:pic>
        <p:nvPicPr>
          <p:cNvPr id="28" name="Image 5" descr="/home/claude/fello/icon_search_FFFFFF.png">    </p:cNvPr>
          <p:cNvPicPr>
            <a:picLocks noChangeAspect="1"/>
          </p:cNvPicPr>
          <p:nvPr/>
        </p:nvPicPr>
        <p:blipFill>
          <a:blip r:embed="rId6"/>
          <a:stretch>
            <a:fillRect/>
          </a:stretch>
        </p:blipFill>
        <p:spPr>
          <a:xfrm>
            <a:off x="6684264" y="3950208"/>
            <a:ext cx="256032" cy="256032"/>
          </a:xfrm>
          <a:prstGeom prst="rect">
            <a:avLst/>
          </a:prstGeom>
        </p:spPr>
      </p:pic>
      <p:sp>
        <p:nvSpPr>
          <p:cNvPr id="29" name="Text 21"/>
          <p:cNvSpPr/>
          <p:nvPr/>
        </p:nvSpPr>
        <p:spPr>
          <a:xfrm>
            <a:off x="7205472" y="3794760"/>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Researches public web evidence automatically via live search</a:t>
            </a:r>
            <a:endParaRPr lang="en-US" sz="1300" dirty="0"/>
          </a:p>
        </p:txBody>
      </p:sp>
      <p:sp>
        <p:nvSpPr>
          <p:cNvPr id="30" name="Shape 22"/>
          <p:cNvSpPr/>
          <p:nvPr/>
        </p:nvSpPr>
        <p:spPr>
          <a:xfrm>
            <a:off x="6583680" y="4745736"/>
            <a:ext cx="457200" cy="457200"/>
          </a:xfrm>
          <a:prstGeom prst="ellipse">
            <a:avLst/>
          </a:prstGeom>
          <a:solidFill>
            <a:srgbClr val="6C4CE0"/>
          </a:solidFill>
          <a:ln/>
        </p:spPr>
      </p:sp>
      <p:pic>
        <p:nvPicPr>
          <p:cNvPr id="31" name="Image 6" descr="/home/claude/fello/icon_database_FFFFFF.png">    </p:cNvPr>
          <p:cNvPicPr>
            <a:picLocks noChangeAspect="1"/>
          </p:cNvPicPr>
          <p:nvPr/>
        </p:nvPicPr>
        <p:blipFill>
          <a:blip r:embed="rId7"/>
          <a:stretch>
            <a:fillRect/>
          </a:stretch>
        </p:blipFill>
        <p:spPr>
          <a:xfrm>
            <a:off x="6684264" y="4846320"/>
            <a:ext cx="256032" cy="256032"/>
          </a:xfrm>
          <a:prstGeom prst="rect">
            <a:avLst/>
          </a:prstGeom>
        </p:spPr>
      </p:pic>
      <p:sp>
        <p:nvSpPr>
          <p:cNvPr id="32" name="Text 23"/>
          <p:cNvSpPr/>
          <p:nvPr/>
        </p:nvSpPr>
        <p:spPr>
          <a:xfrm>
            <a:off x="7205472" y="4690872"/>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Scrapes and enriches the company profile with AI reasoning</a:t>
            </a:r>
            <a:endParaRPr lang="en-US" sz="1300" dirty="0"/>
          </a:p>
        </p:txBody>
      </p:sp>
      <p:sp>
        <p:nvSpPr>
          <p:cNvPr id="33" name="Shape 24"/>
          <p:cNvSpPr/>
          <p:nvPr/>
        </p:nvSpPr>
        <p:spPr>
          <a:xfrm>
            <a:off x="6583680" y="5641848"/>
            <a:ext cx="457200" cy="457200"/>
          </a:xfrm>
          <a:prstGeom prst="ellipse">
            <a:avLst/>
          </a:prstGeom>
          <a:solidFill>
            <a:srgbClr val="6C4CE0"/>
          </a:solidFill>
          <a:ln/>
        </p:spPr>
      </p:sp>
      <p:pic>
        <p:nvPicPr>
          <p:cNvPr id="34" name="Image 7" descr="/home/claude/fello/icon_trending_FFFFFF.png">    </p:cNvPr>
          <p:cNvPicPr>
            <a:picLocks noChangeAspect="1"/>
          </p:cNvPicPr>
          <p:nvPr/>
        </p:nvPicPr>
        <p:blipFill>
          <a:blip r:embed="rId8"/>
          <a:stretch>
            <a:fillRect/>
          </a:stretch>
        </p:blipFill>
        <p:spPr>
          <a:xfrm>
            <a:off x="6684264" y="5742432"/>
            <a:ext cx="256032" cy="256032"/>
          </a:xfrm>
          <a:prstGeom prst="rect">
            <a:avLst/>
          </a:prstGeom>
        </p:spPr>
      </p:pic>
      <p:sp>
        <p:nvSpPr>
          <p:cNvPr id="35" name="Text 25"/>
          <p:cNvSpPr/>
          <p:nvPr/>
        </p:nvSpPr>
        <p:spPr>
          <a:xfrm>
            <a:off x="7205472" y="5586984"/>
            <a:ext cx="4178808" cy="566928"/>
          </a:xfrm>
          <a:prstGeom prst="rect">
            <a:avLst/>
          </a:prstGeom>
          <a:noFill/>
          <a:ln/>
        </p:spPr>
        <p:txBody>
          <a:bodyPr wrap="square" lIns="0" tIns="0" rIns="0" bIns="0" rtlCol="0" anchor="ctr"/>
          <a:lstStyle/>
          <a:p>
            <a:pPr indent="0" marL="0">
              <a:lnSpc>
                <a:spcPct val="105000"/>
              </a:lnSpc>
              <a:buNone/>
            </a:pPr>
            <a:r>
              <a:rPr lang="en-US" sz="1300" dirty="0">
                <a:solidFill>
                  <a:srgbClr val="22243D"/>
                </a:solidFill>
                <a:latin typeface="Calibri" pitchFamily="34" charset="0"/>
                <a:ea typeface="Calibri" pitchFamily="34" charset="-122"/>
                <a:cs typeface="Calibri" pitchFamily="34" charset="-120"/>
              </a:rPr>
              <a:t>Outputs a concise AI account brief with recommended sales actions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B"/>
        </a:solidFill>
      </p:bgPr>
    </p:bg>
    <p:spTree>
      <p:nvGrpSpPr>
        <p:cNvPr id="1" name=""/>
        <p:cNvGrpSpPr/>
        <p:nvPr/>
      </p:nvGrpSpPr>
      <p:grpSpPr>
        <a:xfrm>
          <a:off x="0" y="0"/>
          <a:ext cx="0" cy="0"/>
          <a:chOff x="0" y="0"/>
          <a:chExt cx="0" cy="0"/>
        </a:xfrm>
      </p:grpSpPr>
      <p:sp>
        <p:nvSpPr>
          <p:cNvPr id="2" name="Shape 0"/>
          <p:cNvSpPr/>
          <p:nvPr/>
        </p:nvSpPr>
        <p:spPr>
          <a:xfrm>
            <a:off x="457200" y="411480"/>
            <a:ext cx="1554480" cy="310896"/>
          </a:xfrm>
          <a:prstGeom prst="roundRect">
            <a:avLst>
              <a:gd name="adj" fmla="val 50000"/>
            </a:avLst>
          </a:prstGeom>
          <a:solidFill>
            <a:srgbClr val="1B1E4B"/>
          </a:solidFill>
          <a:ln/>
        </p:spPr>
      </p:sp>
      <p:sp>
        <p:nvSpPr>
          <p:cNvPr id="3" name="Text 1"/>
          <p:cNvSpPr/>
          <p:nvPr/>
        </p:nvSpPr>
        <p:spPr>
          <a:xfrm>
            <a:off x="457200" y="411480"/>
            <a:ext cx="155448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HOW IT WORKS</a:t>
            </a:r>
            <a:endParaRPr lang="en-US" sz="1050" dirty="0"/>
          </a:p>
        </p:txBody>
      </p:sp>
      <p:sp>
        <p:nvSpPr>
          <p:cNvPr id="4" name="Text 2"/>
          <p:cNvSpPr/>
          <p:nvPr/>
        </p:nvSpPr>
        <p:spPr>
          <a:xfrm>
            <a:off x="457200" y="804672"/>
            <a:ext cx="11274552" cy="548640"/>
          </a:xfrm>
          <a:prstGeom prst="rect">
            <a:avLst/>
          </a:prstGeom>
          <a:noFill/>
          <a:ln/>
        </p:spPr>
        <p:txBody>
          <a:bodyPr wrap="square" lIns="0" tIns="0" rIns="0" bIns="0" rtlCol="0" anchor="ctr"/>
          <a:lstStyle/>
          <a:p>
            <a:pPr indent="0" marL="0">
              <a:buNone/>
            </a:pPr>
            <a:r>
              <a:rPr lang="en-US" sz="2800" b="1" dirty="0">
                <a:solidFill>
                  <a:srgbClr val="1B1E4B"/>
                </a:solidFill>
                <a:latin typeface="Century Schoolbook" pitchFamily="34" charset="0"/>
                <a:ea typeface="Century Schoolbook" pitchFamily="34" charset="-122"/>
                <a:cs typeface="Century Schoolbook" pitchFamily="34" charset="-120"/>
              </a:rPr>
              <a:t>Architecture &amp; Demo Output</a:t>
            </a:r>
            <a:endParaRPr lang="en-US" sz="2800" dirty="0"/>
          </a:p>
        </p:txBody>
      </p:sp>
      <p:sp>
        <p:nvSpPr>
          <p:cNvPr id="5" name="Text 3"/>
          <p:cNvSpPr/>
          <p:nvPr/>
        </p:nvSpPr>
        <p:spPr>
          <a:xfrm>
            <a:off x="457200" y="1371600"/>
            <a:ext cx="11274552" cy="365760"/>
          </a:xfrm>
          <a:prstGeom prst="rect">
            <a:avLst/>
          </a:prstGeom>
          <a:noFill/>
          <a:ln/>
        </p:spPr>
        <p:txBody>
          <a:bodyPr wrap="square" lIns="0" tIns="0" rIns="0" bIns="0" rtlCol="0" anchor="ctr"/>
          <a:lstStyle/>
          <a:p>
            <a:pPr indent="0" marL="0">
              <a:buNone/>
            </a:pPr>
            <a:r>
              <a:rPr lang="en-US" sz="1400" i="1" dirty="0">
                <a:solidFill>
                  <a:srgbClr val="5B5F82"/>
                </a:solidFill>
                <a:latin typeface="Calibri" pitchFamily="34" charset="0"/>
                <a:ea typeface="Calibri" pitchFamily="34" charset="-122"/>
                <a:cs typeface="Calibri" pitchFamily="34" charset="-120"/>
              </a:rPr>
              <a:t>One pipeline: minimal input in, evidence-based account intelligence out.</a:t>
            </a:r>
            <a:endParaRPr lang="en-US" sz="1400" dirty="0"/>
          </a:p>
        </p:txBody>
      </p:sp>
      <p:sp>
        <p:nvSpPr>
          <p:cNvPr id="6" name="Shape 4"/>
          <p:cNvSpPr/>
          <p:nvPr/>
        </p:nvSpPr>
        <p:spPr>
          <a:xfrm>
            <a:off x="874624" y="1965960"/>
            <a:ext cx="566928" cy="566928"/>
          </a:xfrm>
          <a:prstGeom prst="ellipse">
            <a:avLst/>
          </a:prstGeom>
          <a:solidFill>
            <a:srgbClr val="5B5F82"/>
          </a:solidFill>
          <a:ln/>
        </p:spPr>
      </p:sp>
      <p:pic>
        <p:nvPicPr>
          <p:cNvPr id="7" name="Image 0" descr="/home/claude/fello/icon_upload_FFFFFF.png">    </p:cNvPr>
          <p:cNvPicPr>
            <a:picLocks noChangeAspect="1"/>
          </p:cNvPicPr>
          <p:nvPr/>
        </p:nvPicPr>
        <p:blipFill>
          <a:blip r:embed="rId1"/>
          <a:stretch>
            <a:fillRect/>
          </a:stretch>
        </p:blipFill>
        <p:spPr>
          <a:xfrm>
            <a:off x="1011784" y="2103120"/>
            <a:ext cx="292608" cy="292608"/>
          </a:xfrm>
          <a:prstGeom prst="rect">
            <a:avLst/>
          </a:prstGeom>
        </p:spPr>
      </p:pic>
      <p:sp>
        <p:nvSpPr>
          <p:cNvPr id="8" name="Text 5"/>
          <p:cNvSpPr/>
          <p:nvPr/>
        </p:nvSpPr>
        <p:spPr>
          <a:xfrm>
            <a:off x="31226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Input</a:t>
            </a:r>
            <a:endParaRPr lang="en-US" sz="1050" dirty="0"/>
          </a:p>
        </p:txBody>
      </p:sp>
      <p:sp>
        <p:nvSpPr>
          <p:cNvPr id="9" name="Text 6"/>
          <p:cNvSpPr/>
          <p:nvPr/>
        </p:nvSpPr>
        <p:spPr>
          <a:xfrm>
            <a:off x="31226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Company + domain or visitor signal</a:t>
            </a:r>
            <a:endParaRPr lang="en-US" sz="850" dirty="0"/>
          </a:p>
        </p:txBody>
      </p:sp>
      <p:sp>
        <p:nvSpPr>
          <p:cNvPr id="10" name="Shape 7"/>
          <p:cNvSpPr/>
          <p:nvPr/>
        </p:nvSpPr>
        <p:spPr>
          <a:xfrm>
            <a:off x="1866748" y="2167128"/>
            <a:ext cx="228600" cy="164592"/>
          </a:xfrm>
          <a:prstGeom prst="chevron">
            <a:avLst/>
          </a:prstGeom>
          <a:solidFill>
            <a:srgbClr val="6C4CE0"/>
          </a:solidFill>
          <a:ln/>
        </p:spPr>
      </p:sp>
      <p:sp>
        <p:nvSpPr>
          <p:cNvPr id="11" name="Shape 8"/>
          <p:cNvSpPr/>
          <p:nvPr/>
        </p:nvSpPr>
        <p:spPr>
          <a:xfrm>
            <a:off x="2520544" y="1965960"/>
            <a:ext cx="566928" cy="566928"/>
          </a:xfrm>
          <a:prstGeom prst="ellipse">
            <a:avLst/>
          </a:prstGeom>
          <a:solidFill>
            <a:srgbClr val="2B2E7A"/>
          </a:solidFill>
          <a:ln/>
        </p:spPr>
      </p:sp>
      <p:pic>
        <p:nvPicPr>
          <p:cNvPr id="12" name="Image 1" descr="/home/claude/fello/icon_server_FFFFFF.png">    </p:cNvPr>
          <p:cNvPicPr>
            <a:picLocks noChangeAspect="1"/>
          </p:cNvPicPr>
          <p:nvPr/>
        </p:nvPicPr>
        <p:blipFill>
          <a:blip r:embed="rId2"/>
          <a:stretch>
            <a:fillRect/>
          </a:stretch>
        </p:blipFill>
        <p:spPr>
          <a:xfrm>
            <a:off x="2657704" y="2103120"/>
            <a:ext cx="292608" cy="292608"/>
          </a:xfrm>
          <a:prstGeom prst="rect">
            <a:avLst/>
          </a:prstGeom>
        </p:spPr>
      </p:pic>
      <p:sp>
        <p:nvSpPr>
          <p:cNvPr id="13" name="Text 9"/>
          <p:cNvSpPr/>
          <p:nvPr/>
        </p:nvSpPr>
        <p:spPr>
          <a:xfrm>
            <a:off x="195818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FastAPI Pipeline</a:t>
            </a:r>
            <a:endParaRPr lang="en-US" sz="1050" dirty="0"/>
          </a:p>
        </p:txBody>
      </p:sp>
      <p:sp>
        <p:nvSpPr>
          <p:cNvPr id="14" name="Text 10"/>
          <p:cNvSpPr/>
          <p:nvPr/>
        </p:nvSpPr>
        <p:spPr>
          <a:xfrm>
            <a:off x="195818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Orchestrates the workflow</a:t>
            </a:r>
            <a:endParaRPr lang="en-US" sz="850" dirty="0"/>
          </a:p>
        </p:txBody>
      </p:sp>
      <p:sp>
        <p:nvSpPr>
          <p:cNvPr id="15" name="Shape 11"/>
          <p:cNvSpPr/>
          <p:nvPr/>
        </p:nvSpPr>
        <p:spPr>
          <a:xfrm>
            <a:off x="3512668" y="2167128"/>
            <a:ext cx="228600" cy="164592"/>
          </a:xfrm>
          <a:prstGeom prst="chevron">
            <a:avLst/>
          </a:prstGeom>
          <a:solidFill>
            <a:srgbClr val="6C4CE0"/>
          </a:solidFill>
          <a:ln/>
        </p:spPr>
      </p:sp>
      <p:sp>
        <p:nvSpPr>
          <p:cNvPr id="16" name="Shape 12"/>
          <p:cNvSpPr/>
          <p:nvPr/>
        </p:nvSpPr>
        <p:spPr>
          <a:xfrm>
            <a:off x="4166464" y="1965960"/>
            <a:ext cx="566928" cy="566928"/>
          </a:xfrm>
          <a:prstGeom prst="ellipse">
            <a:avLst/>
          </a:prstGeom>
          <a:solidFill>
            <a:srgbClr val="2B2E7A"/>
          </a:solidFill>
          <a:ln/>
        </p:spPr>
      </p:sp>
      <p:pic>
        <p:nvPicPr>
          <p:cNvPr id="17" name="Image 2" descr="/home/claude/fello/icon_search_FFFFFF.png">    </p:cNvPr>
          <p:cNvPicPr>
            <a:picLocks noChangeAspect="1"/>
          </p:cNvPicPr>
          <p:nvPr/>
        </p:nvPicPr>
        <p:blipFill>
          <a:blip r:embed="rId3"/>
          <a:stretch>
            <a:fillRect/>
          </a:stretch>
        </p:blipFill>
        <p:spPr>
          <a:xfrm>
            <a:off x="4303624" y="2103120"/>
            <a:ext cx="292608" cy="292608"/>
          </a:xfrm>
          <a:prstGeom prst="rect">
            <a:avLst/>
          </a:prstGeom>
        </p:spPr>
      </p:pic>
      <p:sp>
        <p:nvSpPr>
          <p:cNvPr id="18" name="Text 13"/>
          <p:cNvSpPr/>
          <p:nvPr/>
        </p:nvSpPr>
        <p:spPr>
          <a:xfrm>
            <a:off x="360410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Tavily Search</a:t>
            </a:r>
            <a:endParaRPr lang="en-US" sz="1050" dirty="0"/>
          </a:p>
        </p:txBody>
      </p:sp>
      <p:sp>
        <p:nvSpPr>
          <p:cNvPr id="19" name="Text 14"/>
          <p:cNvSpPr/>
          <p:nvPr/>
        </p:nvSpPr>
        <p:spPr>
          <a:xfrm>
            <a:off x="360410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Public web research</a:t>
            </a:r>
            <a:endParaRPr lang="en-US" sz="850" dirty="0"/>
          </a:p>
        </p:txBody>
      </p:sp>
      <p:sp>
        <p:nvSpPr>
          <p:cNvPr id="20" name="Shape 15"/>
          <p:cNvSpPr/>
          <p:nvPr/>
        </p:nvSpPr>
        <p:spPr>
          <a:xfrm>
            <a:off x="5158588" y="2167128"/>
            <a:ext cx="228600" cy="164592"/>
          </a:xfrm>
          <a:prstGeom prst="chevron">
            <a:avLst/>
          </a:prstGeom>
          <a:solidFill>
            <a:srgbClr val="6C4CE0"/>
          </a:solidFill>
          <a:ln/>
        </p:spPr>
      </p:sp>
      <p:sp>
        <p:nvSpPr>
          <p:cNvPr id="21" name="Shape 16"/>
          <p:cNvSpPr/>
          <p:nvPr/>
        </p:nvSpPr>
        <p:spPr>
          <a:xfrm>
            <a:off x="5812384" y="1965960"/>
            <a:ext cx="566928" cy="566928"/>
          </a:xfrm>
          <a:prstGeom prst="ellipse">
            <a:avLst/>
          </a:prstGeom>
          <a:solidFill>
            <a:srgbClr val="2B2E7A"/>
          </a:solidFill>
          <a:ln/>
        </p:spPr>
      </p:sp>
      <p:pic>
        <p:nvPicPr>
          <p:cNvPr id="22" name="Image 3" descr="/home/claude/fello/icon_globe_FFFFFF.png">    </p:cNvPr>
          <p:cNvPicPr>
            <a:picLocks noChangeAspect="1"/>
          </p:cNvPicPr>
          <p:nvPr/>
        </p:nvPicPr>
        <p:blipFill>
          <a:blip r:embed="rId4"/>
          <a:stretch>
            <a:fillRect/>
          </a:stretch>
        </p:blipFill>
        <p:spPr>
          <a:xfrm>
            <a:off x="5949544" y="2103120"/>
            <a:ext cx="292608" cy="292608"/>
          </a:xfrm>
          <a:prstGeom prst="rect">
            <a:avLst/>
          </a:prstGeom>
        </p:spPr>
      </p:pic>
      <p:sp>
        <p:nvSpPr>
          <p:cNvPr id="23" name="Text 17"/>
          <p:cNvSpPr/>
          <p:nvPr/>
        </p:nvSpPr>
        <p:spPr>
          <a:xfrm>
            <a:off x="525002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Firecrawl</a:t>
            </a:r>
            <a:endParaRPr lang="en-US" sz="1050" dirty="0"/>
          </a:p>
        </p:txBody>
      </p:sp>
      <p:sp>
        <p:nvSpPr>
          <p:cNvPr id="24" name="Text 18"/>
          <p:cNvSpPr/>
          <p:nvPr/>
        </p:nvSpPr>
        <p:spPr>
          <a:xfrm>
            <a:off x="525002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Website scraping</a:t>
            </a:r>
            <a:endParaRPr lang="en-US" sz="850" dirty="0"/>
          </a:p>
        </p:txBody>
      </p:sp>
      <p:sp>
        <p:nvSpPr>
          <p:cNvPr id="25" name="Shape 19"/>
          <p:cNvSpPr/>
          <p:nvPr/>
        </p:nvSpPr>
        <p:spPr>
          <a:xfrm>
            <a:off x="6804508" y="2167128"/>
            <a:ext cx="228600" cy="164592"/>
          </a:xfrm>
          <a:prstGeom prst="chevron">
            <a:avLst/>
          </a:prstGeom>
          <a:solidFill>
            <a:srgbClr val="6C4CE0"/>
          </a:solidFill>
          <a:ln/>
        </p:spPr>
      </p:sp>
      <p:sp>
        <p:nvSpPr>
          <p:cNvPr id="26" name="Shape 20"/>
          <p:cNvSpPr/>
          <p:nvPr/>
        </p:nvSpPr>
        <p:spPr>
          <a:xfrm>
            <a:off x="7458304" y="1965960"/>
            <a:ext cx="566928" cy="566928"/>
          </a:xfrm>
          <a:prstGeom prst="ellipse">
            <a:avLst/>
          </a:prstGeom>
          <a:solidFill>
            <a:srgbClr val="2B2E7A"/>
          </a:solidFill>
          <a:ln/>
        </p:spPr>
      </p:sp>
      <p:pic>
        <p:nvPicPr>
          <p:cNvPr id="27" name="Image 4" descr="/home/claude/fello/icon_cpu_FFFFFF.png">    </p:cNvPr>
          <p:cNvPicPr>
            <a:picLocks noChangeAspect="1"/>
          </p:cNvPicPr>
          <p:nvPr/>
        </p:nvPicPr>
        <p:blipFill>
          <a:blip r:embed="rId5"/>
          <a:stretch>
            <a:fillRect/>
          </a:stretch>
        </p:blipFill>
        <p:spPr>
          <a:xfrm>
            <a:off x="7595464" y="2103120"/>
            <a:ext cx="292608" cy="292608"/>
          </a:xfrm>
          <a:prstGeom prst="rect">
            <a:avLst/>
          </a:prstGeom>
        </p:spPr>
      </p:pic>
      <p:sp>
        <p:nvSpPr>
          <p:cNvPr id="28" name="Text 21"/>
          <p:cNvSpPr/>
          <p:nvPr/>
        </p:nvSpPr>
        <p:spPr>
          <a:xfrm>
            <a:off x="689594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Gemini</a:t>
            </a:r>
            <a:endParaRPr lang="en-US" sz="1050" dirty="0"/>
          </a:p>
        </p:txBody>
      </p:sp>
      <p:sp>
        <p:nvSpPr>
          <p:cNvPr id="29" name="Text 22"/>
          <p:cNvSpPr/>
          <p:nvPr/>
        </p:nvSpPr>
        <p:spPr>
          <a:xfrm>
            <a:off x="689594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AI extraction &amp; reasoning</a:t>
            </a:r>
            <a:endParaRPr lang="en-US" sz="850" dirty="0"/>
          </a:p>
        </p:txBody>
      </p:sp>
      <p:sp>
        <p:nvSpPr>
          <p:cNvPr id="30" name="Shape 23"/>
          <p:cNvSpPr/>
          <p:nvPr/>
        </p:nvSpPr>
        <p:spPr>
          <a:xfrm>
            <a:off x="8450428" y="2167128"/>
            <a:ext cx="228600" cy="164592"/>
          </a:xfrm>
          <a:prstGeom prst="chevron">
            <a:avLst/>
          </a:prstGeom>
          <a:solidFill>
            <a:srgbClr val="6C4CE0"/>
          </a:solidFill>
          <a:ln/>
        </p:spPr>
      </p:sp>
      <p:sp>
        <p:nvSpPr>
          <p:cNvPr id="31" name="Shape 24"/>
          <p:cNvSpPr/>
          <p:nvPr/>
        </p:nvSpPr>
        <p:spPr>
          <a:xfrm>
            <a:off x="9104224" y="1965960"/>
            <a:ext cx="566928" cy="566928"/>
          </a:xfrm>
          <a:prstGeom prst="ellipse">
            <a:avLst/>
          </a:prstGeom>
          <a:solidFill>
            <a:srgbClr val="2B2E7A"/>
          </a:solidFill>
          <a:ln/>
        </p:spPr>
      </p:sp>
      <p:pic>
        <p:nvPicPr>
          <p:cNvPr id="32" name="Image 5" descr="/home/claude/fello/icon_layers_FFFFFF.png">    </p:cNvPr>
          <p:cNvPicPr>
            <a:picLocks noChangeAspect="1"/>
          </p:cNvPicPr>
          <p:nvPr/>
        </p:nvPicPr>
        <p:blipFill>
          <a:blip r:embed="rId6"/>
          <a:stretch>
            <a:fillRect/>
          </a:stretch>
        </p:blipFill>
        <p:spPr>
          <a:xfrm>
            <a:off x="9241384" y="2103120"/>
            <a:ext cx="292608" cy="292608"/>
          </a:xfrm>
          <a:prstGeom prst="rect">
            <a:avLst/>
          </a:prstGeom>
        </p:spPr>
      </p:pic>
      <p:sp>
        <p:nvSpPr>
          <p:cNvPr id="33" name="Text 25"/>
          <p:cNvSpPr/>
          <p:nvPr/>
        </p:nvSpPr>
        <p:spPr>
          <a:xfrm>
            <a:off x="854186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Structured Intel</a:t>
            </a:r>
            <a:endParaRPr lang="en-US" sz="1050" dirty="0"/>
          </a:p>
        </p:txBody>
      </p:sp>
      <p:sp>
        <p:nvSpPr>
          <p:cNvPr id="34" name="Text 26"/>
          <p:cNvSpPr/>
          <p:nvPr/>
        </p:nvSpPr>
        <p:spPr>
          <a:xfrm>
            <a:off x="854186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Enriched account data</a:t>
            </a:r>
            <a:endParaRPr lang="en-US" sz="850" dirty="0"/>
          </a:p>
        </p:txBody>
      </p:sp>
      <p:sp>
        <p:nvSpPr>
          <p:cNvPr id="35" name="Shape 27"/>
          <p:cNvSpPr/>
          <p:nvPr/>
        </p:nvSpPr>
        <p:spPr>
          <a:xfrm>
            <a:off x="10096348" y="2167128"/>
            <a:ext cx="228600" cy="164592"/>
          </a:xfrm>
          <a:prstGeom prst="chevron">
            <a:avLst/>
          </a:prstGeom>
          <a:solidFill>
            <a:srgbClr val="6C4CE0"/>
          </a:solidFill>
          <a:ln/>
        </p:spPr>
      </p:sp>
      <p:sp>
        <p:nvSpPr>
          <p:cNvPr id="36" name="Shape 28"/>
          <p:cNvSpPr/>
          <p:nvPr/>
        </p:nvSpPr>
        <p:spPr>
          <a:xfrm>
            <a:off x="10750144" y="1965960"/>
            <a:ext cx="566928" cy="566928"/>
          </a:xfrm>
          <a:prstGeom prst="ellipse">
            <a:avLst/>
          </a:prstGeom>
          <a:solidFill>
            <a:srgbClr val="6C4CE0"/>
          </a:solidFill>
          <a:ln/>
        </p:spPr>
      </p:sp>
      <p:pic>
        <p:nvPicPr>
          <p:cNvPr id="37" name="Image 6" descr="/home/claude/fello/icon_target_FFFFFF.png">    </p:cNvPr>
          <p:cNvPicPr>
            <a:picLocks noChangeAspect="1"/>
          </p:cNvPicPr>
          <p:nvPr/>
        </p:nvPicPr>
        <p:blipFill>
          <a:blip r:embed="rId7"/>
          <a:stretch>
            <a:fillRect/>
          </a:stretch>
        </p:blipFill>
        <p:spPr>
          <a:xfrm>
            <a:off x="10887304" y="2103120"/>
            <a:ext cx="292608" cy="292608"/>
          </a:xfrm>
          <a:prstGeom prst="rect">
            <a:avLst/>
          </a:prstGeom>
        </p:spPr>
      </p:pic>
      <p:sp>
        <p:nvSpPr>
          <p:cNvPr id="38" name="Text 29"/>
          <p:cNvSpPr/>
          <p:nvPr/>
        </p:nvSpPr>
        <p:spPr>
          <a:xfrm>
            <a:off x="10187788" y="2587752"/>
            <a:ext cx="1691640" cy="274320"/>
          </a:xfrm>
          <a:prstGeom prst="rect">
            <a:avLst/>
          </a:prstGeom>
          <a:noFill/>
          <a:ln/>
        </p:spPr>
        <p:txBody>
          <a:bodyPr wrap="square" lIns="0" tIns="0" rIns="0" bIns="0" rtlCol="0" anchor="ctr"/>
          <a:lstStyle/>
          <a:p>
            <a:pPr algn="ctr" indent="0" marL="0">
              <a:buNone/>
            </a:pPr>
            <a:r>
              <a:rPr lang="en-US" sz="1050" b="1" dirty="0">
                <a:solidFill>
                  <a:srgbClr val="1B1E4B"/>
                </a:solidFill>
                <a:latin typeface="Calibri" pitchFamily="34" charset="0"/>
                <a:ea typeface="Calibri" pitchFamily="34" charset="-122"/>
                <a:cs typeface="Calibri" pitchFamily="34" charset="-120"/>
              </a:rPr>
              <a:t>Sales Rec.</a:t>
            </a:r>
            <a:endParaRPr lang="en-US" sz="1050" dirty="0"/>
          </a:p>
        </p:txBody>
      </p:sp>
      <p:sp>
        <p:nvSpPr>
          <p:cNvPr id="39" name="Text 30"/>
          <p:cNvSpPr/>
          <p:nvPr/>
        </p:nvSpPr>
        <p:spPr>
          <a:xfrm>
            <a:off x="10187788" y="2843784"/>
            <a:ext cx="1691640" cy="457200"/>
          </a:xfrm>
          <a:prstGeom prst="rect">
            <a:avLst/>
          </a:prstGeom>
          <a:noFill/>
          <a:ln/>
        </p:spPr>
        <p:txBody>
          <a:bodyPr wrap="square" lIns="0" tIns="0" rIns="0" bIns="0" rtlCol="0" anchor="ctr"/>
          <a:lstStyle/>
          <a:p>
            <a:pPr algn="ctr" indent="0" marL="0">
              <a:lnSpc>
                <a:spcPct val="100000"/>
              </a:lnSpc>
              <a:buNone/>
            </a:pPr>
            <a:r>
              <a:rPr lang="en-US" sz="850" dirty="0">
                <a:solidFill>
                  <a:srgbClr val="6E7191"/>
                </a:solidFill>
                <a:latin typeface="Calibri" pitchFamily="34" charset="0"/>
                <a:ea typeface="Calibri" pitchFamily="34" charset="-122"/>
                <a:cs typeface="Calibri" pitchFamily="34" charset="-120"/>
              </a:rPr>
              <a:t>Recommended next action</a:t>
            </a:r>
            <a:endParaRPr lang="en-US" sz="850" dirty="0"/>
          </a:p>
        </p:txBody>
      </p:sp>
      <p:sp>
        <p:nvSpPr>
          <p:cNvPr id="40" name="Text 31"/>
          <p:cNvSpPr/>
          <p:nvPr/>
        </p:nvSpPr>
        <p:spPr>
          <a:xfrm>
            <a:off x="457200" y="2907792"/>
            <a:ext cx="11274552" cy="310896"/>
          </a:xfrm>
          <a:prstGeom prst="rect">
            <a:avLst/>
          </a:prstGeom>
          <a:noFill/>
          <a:ln/>
        </p:spPr>
        <p:txBody>
          <a:bodyPr wrap="square" lIns="0" tIns="0" rIns="0" bIns="0" rtlCol="0" anchor="ctr"/>
          <a:lstStyle/>
          <a:p>
            <a:pPr indent="0" marL="0">
              <a:buNone/>
            </a:pPr>
            <a:r>
              <a:rPr lang="en-US" sz="1500" b="1" dirty="0">
                <a:solidFill>
                  <a:srgbClr val="1B1E4B"/>
                </a:solidFill>
                <a:latin typeface="Century Schoolbook" pitchFamily="34" charset="0"/>
                <a:ea typeface="Century Schoolbook" pitchFamily="34" charset="-122"/>
                <a:cs typeface="Century Schoolbook" pitchFamily="34" charset="-120"/>
              </a:rPr>
              <a:t>Structured Output Sections</a:t>
            </a:r>
            <a:endParaRPr lang="en-US" sz="1500" dirty="0"/>
          </a:p>
        </p:txBody>
      </p:sp>
      <p:sp>
        <p:nvSpPr>
          <p:cNvPr id="41" name="Shape 32"/>
          <p:cNvSpPr/>
          <p:nvPr/>
        </p:nvSpPr>
        <p:spPr>
          <a:xfrm>
            <a:off x="457200" y="3310128"/>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42" name="Shape 33"/>
          <p:cNvSpPr/>
          <p:nvPr/>
        </p:nvSpPr>
        <p:spPr>
          <a:xfrm>
            <a:off x="658368" y="3511296"/>
            <a:ext cx="402336" cy="402336"/>
          </a:xfrm>
          <a:prstGeom prst="ellipse">
            <a:avLst/>
          </a:prstGeom>
          <a:solidFill>
            <a:srgbClr val="2B2E7A"/>
          </a:solidFill>
          <a:ln/>
        </p:spPr>
      </p:sp>
      <p:pic>
        <p:nvPicPr>
          <p:cNvPr id="43" name="Image 7" descr="/home/claude/fello/icon_briefcase_FFFFFF.png">    </p:cNvPr>
          <p:cNvPicPr>
            <a:picLocks noChangeAspect="1"/>
          </p:cNvPicPr>
          <p:nvPr/>
        </p:nvPicPr>
        <p:blipFill>
          <a:blip r:embed="rId8"/>
          <a:stretch>
            <a:fillRect/>
          </a:stretch>
        </p:blipFill>
        <p:spPr>
          <a:xfrm>
            <a:off x="740664" y="3593592"/>
            <a:ext cx="237744" cy="237744"/>
          </a:xfrm>
          <a:prstGeom prst="rect">
            <a:avLst/>
          </a:prstGeom>
        </p:spPr>
      </p:pic>
      <p:sp>
        <p:nvSpPr>
          <p:cNvPr id="44" name="Text 34"/>
          <p:cNvSpPr/>
          <p:nvPr/>
        </p:nvSpPr>
        <p:spPr>
          <a:xfrm>
            <a:off x="1207008" y="3474720"/>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Company Profile</a:t>
            </a:r>
            <a:endParaRPr lang="en-US" sz="1250" dirty="0"/>
          </a:p>
        </p:txBody>
      </p:sp>
      <p:sp>
        <p:nvSpPr>
          <p:cNvPr id="45" name="Text 35"/>
          <p:cNvSpPr/>
          <p:nvPr/>
        </p:nvSpPr>
        <p:spPr>
          <a:xfrm>
            <a:off x="658368" y="4023360"/>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Website, industry, size, HQ, description</a:t>
            </a:r>
            <a:endParaRPr lang="en-US" sz="1050" dirty="0"/>
          </a:p>
        </p:txBody>
      </p:sp>
      <p:sp>
        <p:nvSpPr>
          <p:cNvPr id="46" name="Shape 36"/>
          <p:cNvSpPr/>
          <p:nvPr/>
        </p:nvSpPr>
        <p:spPr>
          <a:xfrm>
            <a:off x="4306824" y="3310128"/>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47" name="Shape 37"/>
          <p:cNvSpPr/>
          <p:nvPr/>
        </p:nvSpPr>
        <p:spPr>
          <a:xfrm>
            <a:off x="4507992" y="3511296"/>
            <a:ext cx="402336" cy="402336"/>
          </a:xfrm>
          <a:prstGeom prst="ellipse">
            <a:avLst/>
          </a:prstGeom>
          <a:solidFill>
            <a:srgbClr val="2B2E7A"/>
          </a:solidFill>
          <a:ln/>
        </p:spPr>
      </p:sp>
      <p:pic>
        <p:nvPicPr>
          <p:cNvPr id="48" name="Image 8" descr="/home/claude/fello/icon_code_FFFFFF.png">    </p:cNvPr>
          <p:cNvPicPr>
            <a:picLocks noChangeAspect="1"/>
          </p:cNvPicPr>
          <p:nvPr/>
        </p:nvPicPr>
        <p:blipFill>
          <a:blip r:embed="rId9"/>
          <a:stretch>
            <a:fillRect/>
          </a:stretch>
        </p:blipFill>
        <p:spPr>
          <a:xfrm>
            <a:off x="4590288" y="3593592"/>
            <a:ext cx="237744" cy="237744"/>
          </a:xfrm>
          <a:prstGeom prst="rect">
            <a:avLst/>
          </a:prstGeom>
        </p:spPr>
      </p:pic>
      <p:sp>
        <p:nvSpPr>
          <p:cNvPr id="49" name="Text 38"/>
          <p:cNvSpPr/>
          <p:nvPr/>
        </p:nvSpPr>
        <p:spPr>
          <a:xfrm>
            <a:off x="5056632" y="3474720"/>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Technology Stack</a:t>
            </a:r>
            <a:endParaRPr lang="en-US" sz="1250" dirty="0"/>
          </a:p>
        </p:txBody>
      </p:sp>
      <p:sp>
        <p:nvSpPr>
          <p:cNvPr id="50" name="Text 39"/>
          <p:cNvSpPr/>
          <p:nvPr/>
        </p:nvSpPr>
        <p:spPr>
          <a:xfrm>
            <a:off x="4507992" y="4023360"/>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Detected tools &amp; platforms in use</a:t>
            </a:r>
            <a:endParaRPr lang="en-US" sz="1050" dirty="0"/>
          </a:p>
        </p:txBody>
      </p:sp>
      <p:sp>
        <p:nvSpPr>
          <p:cNvPr id="51" name="Shape 40"/>
          <p:cNvSpPr/>
          <p:nvPr/>
        </p:nvSpPr>
        <p:spPr>
          <a:xfrm>
            <a:off x="8156448" y="3310128"/>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52" name="Shape 41"/>
          <p:cNvSpPr/>
          <p:nvPr/>
        </p:nvSpPr>
        <p:spPr>
          <a:xfrm>
            <a:off x="8357616" y="3511296"/>
            <a:ext cx="402336" cy="402336"/>
          </a:xfrm>
          <a:prstGeom prst="ellipse">
            <a:avLst/>
          </a:prstGeom>
          <a:solidFill>
            <a:srgbClr val="2B2E7A"/>
          </a:solidFill>
          <a:ln/>
        </p:spPr>
      </p:sp>
      <p:pic>
        <p:nvPicPr>
          <p:cNvPr id="53" name="Image 9" descr="/home/claude/fello/icon_users_FFFFFF.png">    </p:cNvPr>
          <p:cNvPicPr>
            <a:picLocks noChangeAspect="1"/>
          </p:cNvPicPr>
          <p:nvPr/>
        </p:nvPicPr>
        <p:blipFill>
          <a:blip r:embed="rId10"/>
          <a:stretch>
            <a:fillRect/>
          </a:stretch>
        </p:blipFill>
        <p:spPr>
          <a:xfrm>
            <a:off x="8439912" y="3593592"/>
            <a:ext cx="237744" cy="237744"/>
          </a:xfrm>
          <a:prstGeom prst="rect">
            <a:avLst/>
          </a:prstGeom>
        </p:spPr>
      </p:pic>
      <p:sp>
        <p:nvSpPr>
          <p:cNvPr id="54" name="Text 42"/>
          <p:cNvSpPr/>
          <p:nvPr/>
        </p:nvSpPr>
        <p:spPr>
          <a:xfrm>
            <a:off x="8906256" y="3474720"/>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Leadership &amp; Decision Makers</a:t>
            </a:r>
            <a:endParaRPr lang="en-US" sz="1250" dirty="0"/>
          </a:p>
        </p:txBody>
      </p:sp>
      <p:sp>
        <p:nvSpPr>
          <p:cNvPr id="55" name="Text 43"/>
          <p:cNvSpPr/>
          <p:nvPr/>
        </p:nvSpPr>
        <p:spPr>
          <a:xfrm>
            <a:off x="8357616" y="4023360"/>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Key people surfaced from public sources</a:t>
            </a:r>
            <a:endParaRPr lang="en-US" sz="1050" dirty="0"/>
          </a:p>
        </p:txBody>
      </p:sp>
      <p:sp>
        <p:nvSpPr>
          <p:cNvPr id="56" name="Shape 44"/>
          <p:cNvSpPr/>
          <p:nvPr/>
        </p:nvSpPr>
        <p:spPr>
          <a:xfrm>
            <a:off x="457200" y="4992624"/>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57" name="Shape 45"/>
          <p:cNvSpPr/>
          <p:nvPr/>
        </p:nvSpPr>
        <p:spPr>
          <a:xfrm>
            <a:off x="658368" y="5193792"/>
            <a:ext cx="402336" cy="402336"/>
          </a:xfrm>
          <a:prstGeom prst="ellipse">
            <a:avLst/>
          </a:prstGeom>
          <a:solidFill>
            <a:srgbClr val="2B2E7A"/>
          </a:solidFill>
          <a:ln/>
        </p:spPr>
      </p:sp>
      <p:pic>
        <p:nvPicPr>
          <p:cNvPr id="58" name="Image 10" descr="/home/claude/fello/icon_activity_FFFFFF.png">    </p:cNvPr>
          <p:cNvPicPr>
            <a:picLocks noChangeAspect="1"/>
          </p:cNvPicPr>
          <p:nvPr/>
        </p:nvPicPr>
        <p:blipFill>
          <a:blip r:embed="rId11"/>
          <a:stretch>
            <a:fillRect/>
          </a:stretch>
        </p:blipFill>
        <p:spPr>
          <a:xfrm>
            <a:off x="740664" y="5276088"/>
            <a:ext cx="237744" cy="237744"/>
          </a:xfrm>
          <a:prstGeom prst="rect">
            <a:avLst/>
          </a:prstGeom>
        </p:spPr>
      </p:pic>
      <p:sp>
        <p:nvSpPr>
          <p:cNvPr id="59" name="Text 46"/>
          <p:cNvSpPr/>
          <p:nvPr/>
        </p:nvSpPr>
        <p:spPr>
          <a:xfrm>
            <a:off x="1207008" y="5157216"/>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Business Signals</a:t>
            </a:r>
            <a:endParaRPr lang="en-US" sz="1250" dirty="0"/>
          </a:p>
        </p:txBody>
      </p:sp>
      <p:sp>
        <p:nvSpPr>
          <p:cNvPr id="60" name="Text 47"/>
          <p:cNvSpPr/>
          <p:nvPr/>
        </p:nvSpPr>
        <p:spPr>
          <a:xfrm>
            <a:off x="658368" y="5705856"/>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Hiring, funding, and growth signals</a:t>
            </a:r>
            <a:endParaRPr lang="en-US" sz="1050" dirty="0"/>
          </a:p>
        </p:txBody>
      </p:sp>
      <p:sp>
        <p:nvSpPr>
          <p:cNvPr id="61" name="Shape 48"/>
          <p:cNvSpPr/>
          <p:nvPr/>
        </p:nvSpPr>
        <p:spPr>
          <a:xfrm>
            <a:off x="4306824" y="4992624"/>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62" name="Shape 49"/>
          <p:cNvSpPr/>
          <p:nvPr/>
        </p:nvSpPr>
        <p:spPr>
          <a:xfrm>
            <a:off x="4507992" y="5193792"/>
            <a:ext cx="402336" cy="402336"/>
          </a:xfrm>
          <a:prstGeom prst="ellipse">
            <a:avLst/>
          </a:prstGeom>
          <a:solidFill>
            <a:srgbClr val="2B2E7A"/>
          </a:solidFill>
          <a:ln/>
        </p:spPr>
      </p:sp>
      <p:pic>
        <p:nvPicPr>
          <p:cNvPr id="63" name="Image 11" descr="/home/claude/fello/icon_usercheck_FFFFFF.png">    </p:cNvPr>
          <p:cNvPicPr>
            <a:picLocks noChangeAspect="1"/>
          </p:cNvPicPr>
          <p:nvPr/>
        </p:nvPicPr>
        <p:blipFill>
          <a:blip r:embed="rId12"/>
          <a:stretch>
            <a:fillRect/>
          </a:stretch>
        </p:blipFill>
        <p:spPr>
          <a:xfrm>
            <a:off x="4590288" y="5276088"/>
            <a:ext cx="237744" cy="237744"/>
          </a:xfrm>
          <a:prstGeom prst="rect">
            <a:avLst/>
          </a:prstGeom>
        </p:spPr>
      </p:pic>
      <p:sp>
        <p:nvSpPr>
          <p:cNvPr id="64" name="Text 50"/>
          <p:cNvSpPr/>
          <p:nvPr/>
        </p:nvSpPr>
        <p:spPr>
          <a:xfrm>
            <a:off x="5056632" y="5157216"/>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Persona &amp; Buying Intent</a:t>
            </a:r>
            <a:endParaRPr lang="en-US" sz="1250" dirty="0"/>
          </a:p>
        </p:txBody>
      </p:sp>
      <p:sp>
        <p:nvSpPr>
          <p:cNvPr id="65" name="Text 51"/>
          <p:cNvSpPr/>
          <p:nvPr/>
        </p:nvSpPr>
        <p:spPr>
          <a:xfrm>
            <a:off x="4507992" y="5705856"/>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Visitor role inference + intent score</a:t>
            </a:r>
            <a:endParaRPr lang="en-US" sz="1050" dirty="0"/>
          </a:p>
        </p:txBody>
      </p:sp>
      <p:sp>
        <p:nvSpPr>
          <p:cNvPr id="66" name="Shape 52"/>
          <p:cNvSpPr/>
          <p:nvPr/>
        </p:nvSpPr>
        <p:spPr>
          <a:xfrm>
            <a:off x="8156448" y="4992624"/>
            <a:ext cx="3575304" cy="1481328"/>
          </a:xfrm>
          <a:prstGeom prst="roundRect">
            <a:avLst>
              <a:gd name="adj" fmla="val 6173"/>
            </a:avLst>
          </a:prstGeom>
          <a:solidFill>
            <a:srgbClr val="FFFFFF"/>
          </a:solidFill>
          <a:ln w="12700">
            <a:solidFill>
              <a:srgbClr val="E3E2F0"/>
            </a:solidFill>
            <a:prstDash val="solid"/>
          </a:ln>
          <a:effectLst>
            <a:outerShdw sx="100000" sy="100000" kx="0" ky="0" algn="bl" rotWithShape="0" blurRad="76200" dist="25400" dir="5400000">
              <a:srgbClr val="1B1E4B">
                <a:alpha val="10000"/>
              </a:srgbClr>
            </a:outerShdw>
          </a:effectLst>
        </p:spPr>
      </p:sp>
      <p:sp>
        <p:nvSpPr>
          <p:cNvPr id="67" name="Shape 53"/>
          <p:cNvSpPr/>
          <p:nvPr/>
        </p:nvSpPr>
        <p:spPr>
          <a:xfrm>
            <a:off x="8357616" y="5193792"/>
            <a:ext cx="402336" cy="402336"/>
          </a:xfrm>
          <a:prstGeom prst="ellipse">
            <a:avLst/>
          </a:prstGeom>
          <a:solidFill>
            <a:srgbClr val="2B2E7A"/>
          </a:solidFill>
          <a:ln/>
        </p:spPr>
      </p:sp>
      <p:pic>
        <p:nvPicPr>
          <p:cNvPr id="68" name="Image 12" descr="/home/claude/fello/icon_zap_FFFFFF.png">    </p:cNvPr>
          <p:cNvPicPr>
            <a:picLocks noChangeAspect="1"/>
          </p:cNvPicPr>
          <p:nvPr/>
        </p:nvPicPr>
        <p:blipFill>
          <a:blip r:embed="rId13"/>
          <a:stretch>
            <a:fillRect/>
          </a:stretch>
        </p:blipFill>
        <p:spPr>
          <a:xfrm>
            <a:off x="8439912" y="5276088"/>
            <a:ext cx="237744" cy="237744"/>
          </a:xfrm>
          <a:prstGeom prst="rect">
            <a:avLst/>
          </a:prstGeom>
        </p:spPr>
      </p:pic>
      <p:sp>
        <p:nvSpPr>
          <p:cNvPr id="69" name="Text 54"/>
          <p:cNvSpPr/>
          <p:nvPr/>
        </p:nvSpPr>
        <p:spPr>
          <a:xfrm>
            <a:off x="8906256" y="5157216"/>
            <a:ext cx="2642616" cy="457200"/>
          </a:xfrm>
          <a:prstGeom prst="rect">
            <a:avLst/>
          </a:prstGeom>
          <a:noFill/>
          <a:ln/>
        </p:spPr>
        <p:txBody>
          <a:bodyPr wrap="square" lIns="0" tIns="0" rIns="0" bIns="0" rtlCol="0" anchor="ctr"/>
          <a:lstStyle/>
          <a:p>
            <a:pPr indent="0" marL="0">
              <a:lnSpc>
                <a:spcPct val="100000"/>
              </a:lnSpc>
              <a:buNone/>
            </a:pPr>
            <a:r>
              <a:rPr lang="en-US" sz="1250" b="1" dirty="0">
                <a:solidFill>
                  <a:srgbClr val="1B1E4B"/>
                </a:solidFill>
                <a:latin typeface="Calibri" pitchFamily="34" charset="0"/>
                <a:ea typeface="Calibri" pitchFamily="34" charset="-122"/>
                <a:cs typeface="Calibri" pitchFamily="34" charset="-120"/>
              </a:rPr>
              <a:t>AI Summary &amp; Next Action</a:t>
            </a:r>
            <a:endParaRPr lang="en-US" sz="1250" dirty="0"/>
          </a:p>
        </p:txBody>
      </p:sp>
      <p:sp>
        <p:nvSpPr>
          <p:cNvPr id="70" name="Text 55"/>
          <p:cNvSpPr/>
          <p:nvPr/>
        </p:nvSpPr>
        <p:spPr>
          <a:xfrm>
            <a:off x="8357616" y="5705856"/>
            <a:ext cx="3172968" cy="658368"/>
          </a:xfrm>
          <a:prstGeom prst="rect">
            <a:avLst/>
          </a:prstGeom>
          <a:noFill/>
          <a:ln/>
        </p:spPr>
        <p:txBody>
          <a:bodyPr wrap="square" lIns="0" tIns="0" rIns="0" bIns="0" rtlCol="0" anchor="ctr"/>
          <a:lstStyle/>
          <a:p>
            <a:pPr indent="0" marL="0">
              <a:lnSpc>
                <a:spcPct val="105000"/>
              </a:lnSpc>
              <a:buNone/>
            </a:pPr>
            <a:r>
              <a:rPr lang="en-US" sz="1050" dirty="0">
                <a:solidFill>
                  <a:srgbClr val="6E7191"/>
                </a:solidFill>
                <a:latin typeface="Calibri" pitchFamily="34" charset="0"/>
                <a:ea typeface="Calibri" pitchFamily="34" charset="-122"/>
                <a:cs typeface="Calibri" pitchFamily="34" charset="-120"/>
              </a:rPr>
              <a:t>Concise brief with a recommended play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2026-07-12T13:37:52Z</dcterms:created>
  <dcterms:modified xsi:type="dcterms:W3CDTF">2026-07-12T13:37:52Z</dcterms:modified>
</cp:coreProperties>
</file>